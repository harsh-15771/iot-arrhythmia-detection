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D3BD"/>
                </a:solidFill>
              </a:defRPr>
            </a:pPr>
            <a:r>
              <a:t>HAPPIEST HEALTH  ·  DIGITAL TWIN CHALLENGE 2026</a:t>
            </a:r>
          </a:p>
          <a:p>
            <a:pPr>
              <a:spcBef>
                <a:spcPts val="1000"/>
              </a:spcBef>
              <a:defRPr sz="5000" b="1">
                <a:solidFill>
                  <a:srgbClr val="FFFFFF"/>
                </a:solidFill>
                <a:latin typeface="Georgia"/>
              </a:defRPr>
            </a:pPr>
            <a:r>
              <a:t>CardioTwin Sentinel</a:t>
            </a:r>
          </a:p>
          <a:p>
            <a:pPr>
              <a:spcBef>
                <a:spcPts val="800"/>
              </a:spcBef>
              <a:defRPr sz="2000">
                <a:solidFill>
                  <a:srgbClr val="DCECE3"/>
                </a:solidFill>
              </a:defRPr>
            </a:pPr>
            <a:r>
              <a:t>An Ultra-Low-Cost (₹1,165) Proactive Cardiovascular &amp; Cardiometabolic Digital Twin</a:t>
            </a:r>
          </a:p>
          <a:p>
            <a:pPr>
              <a:spcBef>
                <a:spcPts val="1400"/>
              </a:spcBef>
              <a:defRPr sz="1400">
                <a:solidFill>
                  <a:srgbClr val="9AB8B2"/>
                </a:solidFill>
              </a:defRPr>
            </a:pPr>
            <a:r>
              <a:t>Fusing Longitudinal EHR + 7-Day Wearable Trajectories + 100 Hz Edge Optical Telemetry to Predict Adverse Cardiac Decompensation Hours in Advance.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51960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F7F5ED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61688"/>
            <a:ext cx="224028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7C76"/>
                </a:solidFill>
                <a:latin typeface="Georgia"/>
              </a:defRPr>
            </a:pPr>
            <a:r>
              <a:t>₹1,165 (~$14)</a:t>
            </a:r>
          </a:p>
          <a:p>
            <a:pPr>
              <a:spcBef>
                <a:spcPts val="200"/>
              </a:spcBef>
              <a:defRPr sz="1150" b="1">
                <a:solidFill>
                  <a:srgbClr val="1B403E"/>
                </a:solidFill>
                <a:latin typeface="Calibri"/>
              </a:defRPr>
            </a:pPr>
            <a:r>
              <a:t>Edge IoT Hardware Node</a:t>
            </a:r>
          </a:p>
          <a:p>
            <a:pPr>
              <a:defRPr sz="950">
                <a:solidFill>
                  <a:srgbClr val="58706D"/>
                </a:solidFill>
                <a:latin typeface="Calibri"/>
              </a:defRPr>
            </a:pPr>
            <a:r>
              <a:t>ESP32 FreeRTOS + MAX30102 100Hz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251960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F7F5ED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4361688"/>
            <a:ext cx="224028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7C76"/>
                </a:solidFill>
                <a:latin typeface="Georgia"/>
              </a:defRPr>
            </a:pPr>
            <a:r>
              <a:t>98.83% / 90.09%</a:t>
            </a:r>
          </a:p>
          <a:p>
            <a:pPr>
              <a:spcBef>
                <a:spcPts val="200"/>
              </a:spcBef>
              <a:defRPr sz="1150" b="1">
                <a:solidFill>
                  <a:srgbClr val="1B403E"/>
                </a:solidFill>
                <a:latin typeface="Calibri"/>
              </a:defRPr>
            </a:pPr>
            <a:r>
              <a:t>Normal Spec / Anomaly Recall</a:t>
            </a:r>
          </a:p>
          <a:p>
            <a:pPr>
              <a:defRPr sz="950">
                <a:solidFill>
                  <a:srgbClr val="58706D"/>
                </a:solidFill>
                <a:latin typeface="Calibri"/>
              </a:defRPr>
            </a:pPr>
            <a:r>
              <a:t>2,271 Patients (Zero-Leakage CV)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251960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F7F5ED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361688"/>
            <a:ext cx="224028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7C76"/>
                </a:solidFill>
                <a:latin typeface="Georgia"/>
              </a:defRPr>
            </a:pPr>
            <a:r>
              <a:t>2h &amp; 6h Horizon</a:t>
            </a:r>
          </a:p>
          <a:p>
            <a:pPr>
              <a:spcBef>
                <a:spcPts val="200"/>
              </a:spcBef>
              <a:defRPr sz="1150" b="1">
                <a:solidFill>
                  <a:srgbClr val="1B403E"/>
                </a:solidFill>
                <a:latin typeface="Calibri"/>
              </a:defRPr>
            </a:pPr>
            <a:r>
              <a:t>Proactive Early Warning</a:t>
            </a:r>
          </a:p>
          <a:p>
            <a:pPr>
              <a:defRPr sz="950">
                <a:solidFill>
                  <a:srgbClr val="58706D"/>
                </a:solidFill>
                <a:latin typeface="Calibri"/>
              </a:defRPr>
            </a:pPr>
            <a:r>
              <a:t>EHR-Coupled + 7d Nocturnal HRV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251960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F7F5ED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4361688"/>
            <a:ext cx="224028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7C76"/>
                </a:solidFill>
                <a:latin typeface="Georgia"/>
              </a:defRPr>
            </a:pPr>
            <a:r>
              <a:t>ABDM FHIR R4</a:t>
            </a:r>
          </a:p>
          <a:p>
            <a:pPr>
              <a:spcBef>
                <a:spcPts val="200"/>
              </a:spcBef>
              <a:defRPr sz="1150" b="1">
                <a:solidFill>
                  <a:srgbClr val="1B403E"/>
                </a:solidFill>
                <a:latin typeface="Calibri"/>
              </a:defRPr>
            </a:pPr>
            <a:r>
              <a:t>e-Sanjeevani Ready</a:t>
            </a:r>
          </a:p>
          <a:p>
            <a:pPr>
              <a:defRPr sz="950">
                <a:solidFill>
                  <a:srgbClr val="58706D"/>
                </a:solidFill>
                <a:latin typeface="Calibri"/>
              </a:defRPr>
            </a:pPr>
            <a:r>
              <a:t>LOINC / SNOMED + 54 Passing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A8D3BD"/>
                </a:solidFill>
              </a:defRPr>
            </a:pPr>
            <a:r>
              <a:t>Team Root Access (Solo)  ·  Harsh Mishra  ·  Visvesvaraya National Institute of Technology (VNIT), Nagpur  ·  MIT Open-Source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01 · CLINICAL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India's Cardiovascular Crisis Faces an Unsustainable Screening Trilemma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South Asians experience coronary artery disease 10–15 years earlier, yet 160,000+ primary care centres lack intelligent triage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AE5E3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320040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63A3A"/>
                </a:solidFill>
                <a:latin typeface="Georgia"/>
              </a:defRPr>
            </a:pPr>
            <a:r>
              <a:t>28% of Deaths</a:t>
            </a:r>
          </a:p>
          <a:p>
            <a:pPr>
              <a:spcBef>
                <a:spcPts val="200"/>
              </a:spcBef>
              <a:defRPr sz="1150" b="1">
                <a:solidFill>
                  <a:srgbClr val="1B403E"/>
                </a:solidFill>
                <a:latin typeface="Calibri"/>
              </a:defRPr>
            </a:pPr>
            <a:r>
              <a:t>Leading Cause of Mortality in India</a:t>
            </a:r>
          </a:p>
          <a:p>
            <a:pPr>
              <a:defRPr sz="950">
                <a:solidFill>
                  <a:srgbClr val="58706D"/>
                </a:solidFill>
                <a:latin typeface="Calibri"/>
              </a:defRPr>
            </a:pPr>
            <a:r>
              <a:t>High burden of silent AFib &amp; premature CAD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DF2E1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64207"/>
            <a:ext cx="320040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87A19"/>
                </a:solidFill>
                <a:latin typeface="Georgia"/>
              </a:defRPr>
            </a:pPr>
            <a:r>
              <a:t>10–15 Years</a:t>
            </a:r>
          </a:p>
          <a:p>
            <a:pPr>
              <a:spcBef>
                <a:spcPts val="200"/>
              </a:spcBef>
              <a:defRPr sz="1150" b="1">
                <a:solidFill>
                  <a:srgbClr val="1B403E"/>
                </a:solidFill>
                <a:latin typeface="Calibri"/>
              </a:defRPr>
            </a:pPr>
            <a:r>
              <a:t>Earlier Onset in South Asians</a:t>
            </a:r>
          </a:p>
          <a:p>
            <a:pPr>
              <a:defRPr sz="950">
                <a:solidFill>
                  <a:srgbClr val="58706D"/>
                </a:solidFill>
                <a:latin typeface="Calibri"/>
              </a:defRPr>
            </a:pPr>
            <a:r>
              <a:t>Western Framingham scores underestimate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5448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E3F2EE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64207"/>
            <a:ext cx="320040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7C76"/>
                </a:solidFill>
                <a:latin typeface="Georgia"/>
              </a:defRPr>
            </a:pPr>
            <a:r>
              <a:t>160,000+ HWCs</a:t>
            </a:r>
          </a:p>
          <a:p>
            <a:pPr>
              <a:spcBef>
                <a:spcPts val="200"/>
              </a:spcBef>
              <a:defRPr sz="1150" b="1">
                <a:solidFill>
                  <a:srgbClr val="1B403E"/>
                </a:solidFill>
                <a:latin typeface="Calibri"/>
              </a:defRPr>
            </a:pPr>
            <a:r>
              <a:t>Ayushman Bharat Primary Centres</a:t>
            </a:r>
          </a:p>
          <a:p>
            <a:pPr>
              <a:defRPr sz="950">
                <a:solidFill>
                  <a:srgbClr val="58706D"/>
                </a:solidFill>
                <a:latin typeface="Calibri"/>
              </a:defRPr>
            </a:pPr>
            <a:r>
              <a:t>Zero low-cost longitudinal screening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00400"/>
            <a:ext cx="534924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200400"/>
            <a:ext cx="534924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255264"/>
            <a:ext cx="50566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Why Existing Devices Fail Primary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694176"/>
            <a:ext cx="5020055" cy="2414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Consumer Smartwatches (₹41,900–₹89,900): Unaffordable for 95% of rural/semi-urban patients; proprietary iOS lock-in; uncalibrated population defaults.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Clinical 24–48h Holter Monitors (₹5,000–₹12,000/rental): Requires hospital referral, chest electrodes, and 2–3 days for manual review.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OTC Pulse Oximeters (₹600–₹1,200): Outputs a single instantaneous number with zero memory, zero personal baseline, and zero EHR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34924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200400"/>
            <a:ext cx="534924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255264"/>
            <a:ext cx="50566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The CardioTwin Sentinel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694176"/>
            <a:ext cx="5020055" cy="2414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★ ₹1,165 (~$14) Edge IoT Node + Stateful Clinical Digital Twin.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Learns each patient's own resting physiology via a 2-minute seated empirical calibration (Median + MAD).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Fuses Static EHR (labs, active medications, South Asian 1.45x Framingham) with Dynamic 100 Hz PPG &amp; 7-day wearable sleep/HRV trajectories.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Predicts hemodynamic decompensation 2 to 6 hours in advance and simulates Dual-Horizon What-If treatment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02 · 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Five-Stage Multimodal Digital Twin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Seamless fusion of Static EHR (Stream 1) and High-Frequency Wearable Telemetry (Stream 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103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210312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55064"/>
            <a:ext cx="181051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01 · EDGE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93976"/>
            <a:ext cx="177393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58706D"/>
                </a:solidFill>
                <a:latin typeface="Calibri"/>
              </a:defRPr>
            </a:pPr>
            <a:r>
              <a:t>▸ ESP32 + MAX30102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₹1,165 ($14) unit BOM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Core 1: 100 Hz ISR timer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Core 0: Async WiFi POST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SH1106 OLED live HUD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Microsecond jitter deltas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600200"/>
            <a:ext cx="2103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1600200"/>
            <a:ext cx="210312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1655064"/>
            <a:ext cx="181051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02 · SIGNAL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093976"/>
            <a:ext cx="177393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58706D"/>
                </a:solidFill>
                <a:latin typeface="Calibri"/>
              </a:defRPr>
            </a:pPr>
            <a:r>
              <a:t>▸ 5-Part Decoupled Gate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Blocks finger-off (&lt;20k)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Blocks saturation (&gt;260k)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Blocks timing drops</a:t>
            </a:r>
          </a:p>
          <a:p>
            <a:pPr>
              <a:spcAft>
                <a:spcPts val="500"/>
              </a:spcAft>
              <a:defRPr sz="1050" b="1">
                <a:solidFill>
                  <a:srgbClr val="58706D"/>
                </a:solidFill>
                <a:latin typeface="Calibri"/>
              </a:defRPr>
            </a:pPr>
            <a:r>
              <a:t>★ Passes AFib &amp; extreme</a:t>
            </a:r>
          </a:p>
          <a:p>
            <a:pPr>
              <a:spcAft>
                <a:spcPts val="500"/>
              </a:spcAft>
              <a:defRPr sz="1050" b="0">
                <a:solidFill>
                  <a:srgbClr val="58706D"/>
                </a:solidFill>
                <a:latin typeface="Calibri"/>
              </a:defRPr>
            </a:pPr>
            <a:r>
              <a:t>  rates through to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600200"/>
            <a:ext cx="2103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1600200"/>
            <a:ext cx="210312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1655064"/>
            <a:ext cx="181051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03 · DUAL 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093976"/>
            <a:ext cx="177393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58706D"/>
                </a:solidFill>
                <a:latin typeface="Calibri"/>
              </a:defRPr>
            </a:pPr>
            <a:r>
              <a:t>▸ Trees + Inception-1D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27 HRV/Spectral features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XGB + RF + ExtraTrees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393K-param 1D-CNN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Temp-Scaled Late Fusion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SHAP TreeExplainer XAI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600200"/>
            <a:ext cx="2103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600200"/>
            <a:ext cx="210312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1655064"/>
            <a:ext cx="181051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04 · TWIN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093976"/>
            <a:ext cx="177393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58706D"/>
                </a:solidFill>
                <a:latin typeface="Calibri"/>
              </a:defRPr>
            </a:pPr>
            <a:r>
              <a:t>▸ EHR x Live Coupling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2-min Median+MAD baseline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M_EHR substrate coupling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Beta-Blockade Escape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2h/6h Proactive Forecast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Dual-Horizon What-If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1600200"/>
            <a:ext cx="2103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55480" y="1600200"/>
            <a:ext cx="210312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1784" y="1655064"/>
            <a:ext cx="181051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05 · CLINICIAN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2093976"/>
            <a:ext cx="177393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58706D"/>
                </a:solidFill>
                <a:latin typeface="Calibri"/>
              </a:defRPr>
            </a:pPr>
            <a:r>
              <a:t>▸ Portal &amp; ABDM FHIR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React 19 Web Dashboard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React Native Mobile App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Evidence Ledger honesty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HL7 FHIR R4 Bundle export</a:t>
            </a:r>
          </a:p>
          <a:p>
            <a:pPr>
              <a:spcAft>
                <a:spcPts val="500"/>
              </a:spcAft>
              <a:defRPr sz="1050" b="0">
                <a:solidFill>
                  <a:srgbClr val="1B403E"/>
                </a:solidFill>
                <a:latin typeface="Calibri"/>
              </a:defRPr>
            </a:pPr>
            <a:r>
              <a:t>• DPDP Act 2023 privacy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44068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E3F2EE"/>
          </a:solidFill>
          <a:ln w="12700">
            <a:solidFill>
              <a:srgbClr val="167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5586984"/>
            <a:ext cx="10643616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★ Data Stream Fusion Contract:  [Stream 1: Synthetic Indian EHR Cohort (100 patients, Labs, Meds, 1.45x Framingham)]  +  [Stream 2: 100 Hz ESP32 PPG + 7-Day Sleep/Nocturnal RMSSD]  ---&gt;  Proactive 2h/6h Early Warning &amp; Dual-Horizon What-If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03 · STAGE 1: EDGE HARDWARE &amp;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₹1,165 ($14) Node Engineered Around a Hard 10,000 µs Real-Time Deadline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FreeRTOS dual-core task isolation prevents WiFi network retries from ever distorting optical waveform morphology.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30352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5010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Core 1: Real-Time Acquisition (Priority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4974336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Samples MAX30102 (880nm IR, 18-bit ADC) at exactly 100.0 Hz using esp_timer_get_time() + vTaskDelayUntil(10ms).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Pushes 50-sample chunks (500ms) with per-sample microsecond deltas (deltas_us[]) into lock-free FreeRTOS chunkQueue.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Zero HTTP or blocking socket calls permitted on Core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530352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977639"/>
            <a:ext cx="530352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032503"/>
            <a:ext cx="5010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Core 0: Async Telemetry &amp; Integrity (Priority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471416"/>
            <a:ext cx="4974336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Pulls completed chunks from chunkQueue and streams keep-alive JSON payloads to POST /data.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Transmits device_boot_id and monotonic sequence numbers to detect hardware reboots, packet gaps, or duplicates.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Background loop drives local 128x64 OLED at ~8 FPS.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54480"/>
            <a:ext cx="539496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554480"/>
            <a:ext cx="5394960" cy="402336"/>
          </a:xfrm>
          <a:prstGeom prst="roundRect">
            <a:avLst>
              <a:gd name="adj" fmla="val 4000"/>
            </a:avLst>
          </a:prstGeom>
          <a:solidFill>
            <a:srgbClr val="12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609344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Bill of Materials &amp; Health-Economics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048256"/>
            <a:ext cx="506577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Complete Hardware Node BOM: ₹1,165 (~$14.07) | &lt; ₹950 @ 1k units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ESP32-WROOM-32D Dual-Core MCU (240 MHz):  ₹480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MAX30102 Optical PPG Sensor (18-bit ADC): ₹220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TP4056 USB-C Charger + 650mAh LiPo (6-8h): ₹210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SH1106 0.96" I2C OLED Display:            ₹140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3D-Printed Biocompatible PLA Clip + Passives: ₹115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Deployment Comparison vs. Commercial Modalities: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Apple Watch Series 9 (₹41,900+): &gt;35x more expensive, iOS locked.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Clinical Holter (₹5,000+/rental): 2–3 day delay, non-reusable leads.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OTC Oximeter (₹800): Instantaneous number only, zero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04 · STAGE 2: DECOUPLED SIGNAL RELIABILITY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Physical Failures Block the AI. Genuine Arrhythmias Pass 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Conventional quality filters discard irregular rhythms as 'noise'—blindfolding the AI during Atrial Fibrillation.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1206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120640" cy="402336"/>
          </a:xfrm>
          <a:prstGeom prst="roundRect">
            <a:avLst>
              <a:gd name="adj" fmla="val 4000"/>
            </a:avLst>
          </a:prstGeom>
          <a:solidFill>
            <a:srgbClr val="B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48280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Axis 1: Physical Reliability (May Block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4791455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1. Finger-Off / Liftoff: Optical IR &lt; 20,000 ADC -&gt; FINGER_OFF.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2. Transimpedance Saturation: ADC &gt; 260,000 (&gt;5% clipped) -&gt; SATURATED.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3. Sample Timing Jitter: |fs - 100Hz| &gt; 15Hz or drops -&gt; POOR_TIMING.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4. Pulse Morphology &amp; Stability: &lt;3 systolic peaks or &lt;3 clean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51206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977639"/>
            <a:ext cx="5120640" cy="402336"/>
          </a:xfrm>
          <a:prstGeom prst="roundRect">
            <a:avLst>
              <a:gd name="adj" fmla="val 4000"/>
            </a:avLst>
          </a:prstGeom>
          <a:solidFill>
            <a:srgbClr val="1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032503"/>
            <a:ext cx="48280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Axis 2: Physiological Observation (Never Blocks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471416"/>
            <a:ext cx="4791455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★ Chaotic Beat Intervals (RR-CV &gt; 0.35): Tagged as IRREGULAR_RHYTHM and passed directly to Dual-Modality AI to capture AFib.</a:t>
            </a:r>
          </a:p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★ Extreme Rates (&lt;40 or &gt;180 BPM): Tagged RECHECK_REQUIRED and passed to AI for severe bradycardia / tachycardia screening.</a:t>
            </a:r>
          </a:p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★ Verified in 54 Automated Tests: 100% finger-off rejection, 0 false alarms.</a:t>
            </a:r>
          </a:p>
        </p:txBody>
      </p:sp>
      <p:pic>
        <p:nvPicPr>
          <p:cNvPr id="16" name="Picture 15" descr="gate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623560" cy="3633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05 · STAGE 3: DUAL-MODALITY AI &amp; CLINICAL TRIAGE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Temperature-Scaled Fusion Across 2,271 Real Patients (Zero Leakage)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Combining 27 hand-crafted physiological HRV biomarkers with multi-scale 1D convolutional waveform morphology.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6 / 12</a:t>
            </a:r>
          </a:p>
        </p:txBody>
      </p:sp>
      <p:pic>
        <p:nvPicPr>
          <p:cNvPr id="8" name="Picture 7" descr="benchmark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7406640" cy="30592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508760"/>
            <a:ext cx="3383280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38328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63624"/>
            <a:ext cx="30906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Two-Level Validation Rigor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002536"/>
            <a:ext cx="3054096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3-Tier Clinical Actionability: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98.83% Normal Specificity (eliminates clinician false-alarm fatigue).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90.09% Tier-2 Recall on Actionable Rate &amp; Atrial Anomalies (AFib, Brady, Tachy, Paced).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75.68% Overall Triage Accuracy.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8-Class Research Granularity: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54.40% Macro-F1 (4.35x random guess) under strict patient-isolated StratifiedGroupKFold.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393K-param Inception-1D runs in 4.2 ms on standard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06 · EXPLAINABLE AI &amp; SCIENTIFIC 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Every Screening Output Explains Why—and Declares What It Cannot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Clinicians receive game-theoretic SHAP biomarker attributions alongside a machine-readable Evidence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7 / 12</a:t>
            </a:r>
          </a:p>
        </p:txBody>
      </p:sp>
      <p:pic>
        <p:nvPicPr>
          <p:cNvPr id="8" name="Picture 7" descr="sha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5303520" cy="34094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80760" y="155448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1554480"/>
            <a:ext cx="5486400" cy="402336"/>
          </a:xfrm>
          <a:prstGeom prst="roundRect">
            <a:avLst>
              <a:gd name="adj" fmla="val 4000"/>
            </a:avLst>
          </a:prstGeom>
          <a:solidFill>
            <a:srgbClr val="C87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1609344"/>
            <a:ext cx="519379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Cross-Dataset Source Confounding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048256"/>
            <a:ext cx="5157216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We audited 4 clinical databases (MIMIC-III, CinC 2015, BUT PPG, BIDMC).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A domain classifier predicting dataset origin from biomarkers alone hits 77.08% accuracy—proving that 100% of VT/Asystole records carry CinC 2015 ICU hardware signatures.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Instead of hiding this behind inflated claims, CardioTwin discloses it in every API response and frames VT as an urgent ECG referral flag.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977639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3977639"/>
            <a:ext cx="548640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4032503"/>
            <a:ext cx="519379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Machine-Readable Evidence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4471416"/>
            <a:ext cx="5157216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PPG != 12-Lead ECG: Optical microvascular pulse waves cannot measure electrical P-waves, QRS duration, or ST-segment elevation.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SpO2 Transparency: Single-wavelength 880nm IR cannot physically compute ratiometric SpO2—explicitly declared UNAVAILABLE, never fabricated.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Multi-Window Consensus: Requires &gt;=3/4 recent windows + asymmetric confidence thresholds (0.75 for VT/VFib vs 0.50 for Sinus).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07 · STAGE 4A: PERSONAL BASELINE &amp; TRUE MULTIMODAL 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Conditioning Acute Optical Sensitivity on the Patient's EHR 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A +22 BPM pulse rise in a healthy 27-year-old is benign; in a 63-year-old Post-PCI patient on Metoprolol, it is Beta-Blockade Escape.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3492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4924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50566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1. Empirical 2-Minute Seated Baseline (Zero Guessing)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5020055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Why Population Norms Fail: Resting HR is 48 BPM in endurance runners vs 84 BPM in sedentary patients.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Uncalibrated Guardrail: Returns instability_score: null ('Personal baseline required') until calibrated.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2-Minute Protocol: 30s settling + &gt;=6 clean 10s windows.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Non-Parametric Fingerprint: Computes personal Median &amp; MAD for BPM, RMSSD, and RR-CV (50% breakdown point against outliers).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Governance: 30-day TTL expiration + automatic invalidation on device_id or LED current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492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4924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09344"/>
            <a:ext cx="50566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2. Multimodal EHR Vulnerability Coupling (M_EHR)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48256"/>
            <a:ext cx="5020055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★ Stream 1 (EHR) Dynamically Modulates Stream 2 (Live PPG):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Pharmacological Beta-Blockade Escape: Detects pulse &gt;= 90 BPM despite active Metoprolol / Bisoprolol therapy (sympathetic breakthrough).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Subclinical AFib Prodrome: Amplifies RR-CV &gt;= 18% in patients with documented Paroxysmal AFib history.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Autonomic Vagal Withdrawal: Flags RMSSD &lt; 22ms in Post-PCI CAD or uncontrolled Type-2 Diabetes (HbA1c &gt;= 7.0%).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Substrate Multiplier M_EHR in [1.00x, 1.40x]: Scales acute instability and proactive horizon velocity by clinical fragility.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08 · STAGE 4B: PROACTIVE 2-HOUR &amp; 6-HOUR ADVERSE EVENT FORECASTER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Predicting Hemodynamic Decompensation Before Crisis Strikes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Directly fulfills the challenge prompt by fusing 7-day wearable sleep &amp; nocturnal HRV trends with real-time state velocity.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39496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9496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7-Day Wearable Trajectory Inputs (Stream 2 Longitudinal)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506577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Continuous 7-Day Tracking across 4 Wearable Streams: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1. Nocturnal RMSSD (ms): Tracks multi-day parasympathetic decay (e.g., 42ms -&gt; 22ms over 7 nights preceding decompensation).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2. Daily Resting Heart Rate (BPM): Captures creeping sympathetic creep (e.g., 68 -&gt; 78 BPM).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3. Sleep Efficiency (%): Identifies nocturnal fragmentation (88% -&gt; 71%).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4. Daily Step Count: Captures functional exercise intolerance.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Visualized via 4 interactive SVG Sparklines on the Clinician Twin tab.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303520" cy="402336"/>
          </a:xfrm>
          <a:prstGeom prst="roundRect">
            <a:avLst>
              <a:gd name="adj" fmla="val 4000"/>
            </a:avLst>
          </a:prstGeom>
          <a:solidFill>
            <a:srgbClr val="C87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609344"/>
            <a:ext cx="5010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State-Space Horizon Extrapolation (2h &amp; 6h Forecast)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048256"/>
            <a:ext cx="497433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Mathematical Horizon Model: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I_hat(t + dt) = clip(I_t + (b_acute * dI/dt + b_7d * Slope_7d) * M_EHR)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4 Clinical Early-Warning Horizon States: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STABLE_HORIZON: Concordant 7d HRV &amp; resting pulse.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EARLY_PRODROMAL_DRIFT: Subtle vagal suppression + EHR flag.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HIGH_RISK_WITHIN_6H: Projected instability crosses 60/100.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IMMINENT_DECOMPENSATION_2H: Projected instability &gt;= 70/100,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  outputting exact Estimated Time-to-Threshold (e.g., ~2.5 hours).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09 · STAGE 4C: DUAL-HORIZON 'WHAT-IF' TREATMENT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Connecting 24-Hour Hemodynamic Twin Response with 10-Year ASCVD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EHR-aware simulation distinguishes active prescriptions (Adherence/Titration) from new therapies like SGLT2 Inhibitors.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3492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4924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50566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South Asian 1.45x Recalibration &amp; EHR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5020055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Standard Framingham (derived on Western cohorts) underestimates South Asian risk by 40–50%. Applying the 1.45x WHO/ACC multiplier shifts a 16.8% patient to 24.4% (crossing the 20% statin threshold).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Smart EHR Medication Detection: Inspects patient_ehr.medications. For PAT001 (already on Metoprolol 50mg &amp; Atorvastatin 40mg), levers model Adherence &amp; Titration rather than duplicate prescriptions.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New Cardiometabolic Levers: Adds Dapagliflozin 10mg (SGLT2i: -18% CVD risk in T2DM/CAD), Ramipril/Telmisartan, SBP target, and Smoking Cessation.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492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4924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09344"/>
            <a:ext cx="50566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Dual-Horizon Simulation Output (PAT001 Case Study)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48256"/>
            <a:ext cx="5020055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Horizon 1: Long-Term 10-Year ASCVD Trajectory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Baseline Recalibrated Risk: 99.0% (Post-PCI CAD, Smoker, HbA1c 7.4%)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Optimized Protocol Risk:    34.8% (-64.2% Absolute Risk Reduction)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Biological Vascular Age:    85 yrs  ---&gt;  68 yrs (-17 yrs shift)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Horizon 2: Short-Term 24-Hour Hemodynamic Twin Response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Simulated Resting Pulse:    70 BPM  ---&gt;  58 BPM (Beta-blockade)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Simulated Systolic BP:      143 mmHg ---&gt; 121 mmHg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Autonomic Vagal Recovery:   +13.0 ms RMSSD gain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Projected Instability:      Drops into Stable band (&lt;20/100)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10 · STAGE 5: CLINICIAN COMMAND PORTAL &amp; ABDM INTEROPERABILITY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Built for Doctor Decision Support and National e-Sanjeevani Tele-Consultation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4-Tab React 19 Web Portal + React Native Mobile Companion + 1-Click HL7 FHIR R4 Bundle 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48640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519379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Clinician Command Portal (React 19 + Mobile Companion)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515721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Tab 1 — Home: Patient care story, biological vascular age, baseline freshness badge.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Tab 2 — Your Twin: 8-Biomarker Clinical Lab Panel (Total Chol, LDL, HDL, TG, Glucose, HbA1c, hs-CRP, BP with abnormal flags), Active Pharmacotherapy Table, and 7-Day Wearable Sparklines.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Tab 3 — Live Check: 100 Hz SVG oscilloscope, 4-metric HRV strip (RMSSD, SDNN, RR-CV, SQI), Dual-Modality AI &amp; Persistence panel, SHAP drivers, and Proactive 2h/6h Early Warning Banner.</a:t>
            </a:r>
          </a:p>
          <a:p>
            <a:pPr>
              <a:spcAft>
                <a:spcPts val="500"/>
              </a:spcAft>
              <a:defRPr sz="1150" b="0">
                <a:solidFill>
                  <a:srgbClr val="1B403E"/>
                </a:solidFill>
                <a:latin typeface="Calibri"/>
              </a:defRPr>
            </a:pPr>
            <a:r>
              <a:t>• Tab 4 — Explore Changes: Dual-Horizon What-If simulator + guided scenario injectors (Quiet Baseline, Tachycardia, AFib, Motion, Liftoff).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2578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25780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609344"/>
            <a:ext cx="496519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ABDM HL7 FHIR R4 Export &amp; DPDP 2023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92861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Live Endpoint: GET /fhir/export generates a standard FHIR R4 Bundle: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Patient: Linked to 14-digit ABHA ID (healthid.abdm.gov.in)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Observation: Heart Rate (LOINC 8867-4) &amp; RMSSD (LOINC 80404-7)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Observation: Pulse Rhythm (SNOMED-CT 361137007) &amp; Instability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RiskAssessment: 10Y Framingham + 6H Decompensation (LOINC 79423-0)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Edge-First Privacy (India DPDP Act 2023 Aligned):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Waveform Ephemerality: Raw 100 Hz samples exist only in rolling RAM buffers and are purged immediately after 27-biomarker extraction.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• Deterministic Pseudonymization (PAT001..PAT100) + 30-day TTL.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7C76"/>
                </a:solidFill>
                <a:latin typeface="Calibri"/>
              </a:defRPr>
            </a:pPr>
            <a:r>
              <a:t>11 · VERIFICATION RIGOR &amp; LIVE DEMONSTRATION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403E"/>
                </a:solidFill>
                <a:latin typeface="Georgia"/>
              </a:defRPr>
            </a:pPr>
            <a:r>
              <a:t>54 Automated Tests Passing (100% Success) Across Hardware, AI &amp; Clinical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8706D"/>
                </a:solidFill>
                <a:latin typeface="Calibri"/>
              </a:defRPr>
            </a:pPr>
            <a:r>
              <a:t>Complete reproducibility from ESP32 FreeRTOS C++ firmware to Python ML backend and React 19 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29491"/>
                </a:solidFill>
                <a:latin typeface="Calibri"/>
              </a:defRPr>
            </a:pPr>
            <a:r>
              <a:t>CardioTwin Sentinel v4.1  ·  Team Root Access (Harsh Mishra, VNIT Nagpur)  ·  Investigational Decision-Support Prototype (Non-Diagnostic)          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6692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669280" cy="402336"/>
          </a:xfrm>
          <a:prstGeom prst="roundRect">
            <a:avLst>
              <a:gd name="adj" fmla="val 4000"/>
            </a:avLst>
          </a:prstGeom>
          <a:solidFill>
            <a:srgbClr val="1B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53766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Controlled Physiological Target Validation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48256"/>
            <a:ext cx="534009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58706D"/>
                </a:solidFill>
                <a:latin typeface="Calibri"/>
              </a:defRPr>
            </a:pPr>
            <a:r>
              <a:t>▸ Verified in tests/test_instability_target_validation.py &amp; test_cardiotwin.py: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1. Quiet Seated Baseline      ---&gt; Stable (Score 0–20, 0 false flags)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2. Finger Liftoff / Flatline  ---&gt; Gated (FINGER_OFF, Score: null)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3. Hand Motion / Clipping     ---&gt; Gated (SENSOR_SATURATED, Score: null)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4. Standing Transition        ---&gt; Mild Departure (Score 20–40)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5. Post-Standing Recovery     ---&gt; Returns to Stable (&lt;20 within 3 windows)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6. Sustained Tachycardia      ---&gt; Sustained Departure (Score 40–100, Review)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7. Irregular Pulse (AFib)     ---&gt; Passes Gate -&gt; Review Recommended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  8. FHIR R4 &amp; Proactive 2h/6h  ---&gt; Verified Schema &amp; EHR Coupling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507492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554480"/>
            <a:ext cx="5074920" cy="402336"/>
          </a:xfrm>
          <a:prstGeom prst="roundRect">
            <a:avLst>
              <a:gd name="adj" fmla="val 4000"/>
            </a:avLst>
          </a:prstGeom>
          <a:solidFill>
            <a:srgbClr val="167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609344"/>
            <a:ext cx="47823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Calibri"/>
              </a:defRPr>
            </a:pPr>
            <a:r>
              <a:t>End-to-End Live Video Demo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048256"/>
            <a:ext cx="474573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1. Hardware &amp; Firmware Proof: Show ESP32 + MAX30102 + OLED node running Dual-Core FreeRTOS @ 100 Hz.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2. Patient Twin Load: Load PAT001 (Praveen Choudhury, 63M, Post-PCI CAD, HbA1c 7.4%, hs-CRP 3.61) &amp; inspect 7-day nocturnal RMSSD decline.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3. Live Check &amp; Gate Stress-Test: Trigger 2-min calibration, inject Calm Sinus -&gt; Stress Tachycardia (Beta-Blockade Escape fires) -&gt; AFib Episode (2h/6h Proactive Early Warning triggers).</a:t>
            </a:r>
          </a:p>
          <a:p>
            <a:pPr>
              <a:spcAft>
                <a:spcPts val="500"/>
              </a:spcAft>
              <a:defRPr sz="1150" b="0">
                <a:solidFill>
                  <a:srgbClr val="58706D"/>
                </a:solidFill>
                <a:latin typeface="Calibri"/>
              </a:defRPr>
            </a:pPr>
            <a:r>
              <a:t>4. Dual-Horizon What-If &amp; FHIR R4: Simulate Dapagliflozin + Statin + SBP target (99% -&gt; 34.8% risk) and export HL7 FHIR R4 Bundle.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