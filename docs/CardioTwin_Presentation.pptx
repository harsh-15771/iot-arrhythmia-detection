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fa05566-bfdf-28ed-c389-a1fcd40b4abe}">
          <p14:sldIdLst>
            <p14:sldId id="256"/>
            <p14:sldId id="257"/>
          </p14:sldIdLst>
        </p14:section>
        <p14:section name="System" id="{b0bd1212-4ab7-707c-5513-ec1514f09d55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Demo" id="{8573df46-e8a5-ffbc-d593-ad4ee6bf8d98}">
          <p14:sldIdLst>
            <p14:sldId id="265"/>
          </p14:sldIdLst>
        </p14:section>
        <p14:section name="Outcome" id="{fb7e0ec9-d9d8-27c5-461d-e00dcd2778fc}">
          <p14:sldIdLst>
            <p14:sldId id="266"/>
            <p14:sldId id="267"/>
          </p14:sldIdLst>
        </p14:section>
        <p14:section name="Close" id="{8ddf97b5-6ef5-10f5-337c-74d85e7db539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sig_skew</c:v>
                  </c:pt>
                  <c:pt idx="1">
                    <c:v>peak_amp_mean</c:v>
                  </c:pt>
                  <c:pt idx="2">
                    <c:v>rr_mean</c:v>
                  </c:pt>
                  <c:pt idx="3">
                    <c:v>bpm</c:v>
                  </c:pt>
                  <c:pt idx="4">
                    <c:v>pnn50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0.4895</c:v>
                </c:pt>
                <c:pt idx="1">
                  <c:v>0.4271</c:v>
                </c:pt>
                <c:pt idx="2">
                  <c:v>0.3646</c:v>
                </c:pt>
                <c:pt idx="3">
                  <c:v>0.3524</c:v>
                </c:pt>
                <c:pt idx="4">
                  <c:v>0.2201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98A2B3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8A2B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5B9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 guess</c:v>
                  </c:pt>
                  <c:pt idx="1">
                    <c:v>Classical ensemble</c:v>
                  </c:pt>
                  <c:pt idx="2">
                    <c:v>Inception-1D CNN</c:v>
                  </c:pt>
                  <c:pt idx="3">
                    <c:v>Nested fusion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48</c:v>
                </c:pt>
                <c:pt idx="2">
                  <c:v>51.81</c:v>
                </c:pt>
                <c:pt idx="3">
                  <c:v>53.92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5B9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B5B9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B5B9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B5B92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Normal</c:v>
                  </c:pt>
                  <c:pt idx="1">
                    <c:v>Bradycardia</c:v>
                  </c:pt>
                  <c:pt idx="2">
                    <c:v>Tachycardia</c:v>
                  </c:pt>
                  <c:pt idx="3">
                    <c:v>AFib</c:v>
                  </c:pt>
                  <c:pt idx="4">
                    <c:v>Asystole</c:v>
                  </c:pt>
                  <c:pt idx="5">
                    <c:v>V. flutter / fib</c:v>
                  </c:pt>
                  <c:pt idx="6">
                    <c:v>Cardiac paced</c:v>
                  </c:pt>
                  <c:pt idx="7">
                    <c:v>V. tachycardia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79.33</c:v>
                </c:pt>
                <c:pt idx="1">
                  <c:v>67.82</c:v>
                </c:pt>
                <c:pt idx="2">
                  <c:v>65.29</c:v>
                </c:pt>
                <c:pt idx="3">
                  <c:v>53.91</c:v>
                </c:pt>
                <c:pt idx="4">
                  <c:v>48.37</c:v>
                </c:pt>
                <c:pt idx="5">
                  <c:v>47.85</c:v>
                </c:pt>
                <c:pt idx="6">
                  <c:v>35.32</c:v>
                </c:pt>
                <c:pt idx="7">
                  <c:v>33.49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(about 1 min)
- Name, team Root Access (solo), VNIT Nagpur, Digital Twin Challenge 2026 by Happiest Health.
- One-line pitch: a ₹1,165 device that learns your heart's own baseline, screens 8 rhythm classes with explainable AI, and projects 10-year risk.
- Set the frame early: this is screening and decision support, not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(about 1.5 min)
- 28% of deaths in India are cardiovascular; South Asians are hit 10–15 years earlier than Western populations.
- There are 160,000+ Ayushman Bharat Health &amp; Wellness Centres in rural and semi-urban India, but no affordable, intelligent screening tool for them.
- Walk the price list: smartwatch ₹41,900+, Holter ₹5,000–12,000 per rental, bedside monitor ₹1.2–3.5 lakh, pulse oximeter ₹600–1,200 but with zero memory or intelligence.
- Who uses ours: a Community Health Officer. Two-minute seated check, live screening, and a FHIR report to refer through e-Sanjeevani.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(about 1.5 min) - this is the one-glance architecture; the architecture PDF has the detail.
- Walk left to right: hardware edge, signal gate, dual-modality AI, digital twin, clinician view.
- Two streams: live optical pulse (stages 1–3) and the patient EHR, which joins at the digital twin.
- Protocols along the way: I2C inside the node, WiFi TCP/JSON to the backend, REST + WebSocket to the dashboard, FHIR R4 out to ABDM.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(about 1.5 min) - hold up the device if you can.
- ₹1,165 total (about $14): ESP32 ₹480, MAX30102 ₹220, OLED ₹140, power ₹210, passives and finger clip ₹115. Under ₹950 in a 1,000-unit batch.
- Why dual-core: Core 1 owns the 10 ms sampling deadline via a hardware timer; Core 0 handles WiFi, JSON and the OLED, so network hiccups never distort the waveform.
- Each chunk carries device_boot_id, seq and microsecond timestamps so the gate can detect jitter and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GATE (about 1.5 min)
- Most pipelines throw away anything irregular as noise, which also throws away the arrhythmias you are trying to find.
- Here the gate is decoupled: only failures of the measurement itself block the AI (finger off, saturation, timing jitter, SQI below 0.40).
- Genuine irregularity (AFib-type rhythm, extreme rates below 40 or above 180 BPM) passes through, flagged for clinical review.
- Operational validation: 100% finger-off rejection, error of 2.0 BPM or less against a reference pulse, zero persistent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BASELINE (about 2 min) - the core idea of the digital twin.
- Resting pulse varies enormously between people (an athlete near 48 BPM, a hypertensive patient near 84), so a fixed 72 BPM norm is wrong for most people.
- Calibration: two minutes seated, at least 6 clean 10-second windows. We store Median and MAD, which resist outlier spikes, instead of mean and standard deviation.
- Scoring: robust z-score = |reading − median| / (1.4826 × MAD), blended into a 0–100 Instability Index: rhythm distress, RMSSD below 25 ms, BPM above 105, smoothed by EMA with α = 0.35.
- Without a baseline the score is null and the dashboard says "Personal baseline required". Baselines expire at 30 days or if the device or sensor configuration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DUAL-MODALITY AI (about 2 min)
- Modality A: 27 biomarkers (time-domain HRV such as RMSSD, SDNN, pNN50; morphology; Welch spectral LF/HF) into an XGBoost + Random Forest + ExtraTrees soft-voting ensemble.
- Modality B: Inception-1D CNN on the raw 1,000-sample, 100 Hz window; four parallel kernel sizes (3, 7, 15, 31) with residual connections; 393,224 parameters; about 4.2 ms on CPU.
- Fusion: 0.38 × classical + 0.62 × CNN. These weights were chosen by inner-fold search inside nested cross-validation, not on test data.
- Output: 8 classes - Normal, Tachycardia, Bradycardia, AFib, Cardiac paced, V. tachycardia, V. flutter/fib, Asystole.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EXPLAINABILITY (about 1.5 min)
- SHAP TreeExplainer runs on the 27 biomarkers. Globally the top drivers are signal skew, mean peak amplitude, mean RR interval and BPM.
- For AFib the drivers are RR variability, pNN50 and RMSSD (irregular-irregular rhythm). For tachycardia: compressed RR intervals and high BPM.
- Each result also carries a plain-language reason (deviation in BPM, RR-CV and RMSSD with temporal duration).
- The Evidence Ledger is machine-readable and states what the system does NOT know: no SpO₂, not a 12-lead ECG, ICU-heavy training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ENGINE AND WHAT-IF (about 1.5 min)
- Stream 1 is the patient record: age, sex, SBP (treated or not), total cholesterol, HDL, smoking, diabetes into a sex-specific Framingham Cox model (D'Agostino 2008).
- Standard Framingham underestimates South Asian risk, so we apply a 1.45× recalibration (ACC/AHA treats South Asian ancestry as a risk-enhancing factor).
- Example: a 52-year-old male smoker goes from 16.8% to 24.4%, crossing the 20% high-risk threshold.
- What-If simulator: relative risk reductions of 15–22% (beta-blockade), 22–28% (statin), 28–34% (antihypertensives), 40–50% (smoking cessation, 5 years), 55–68% for the combined protocol. Say clearly these are educational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RUN-OF-SHOW (record about 8–10 min live; this slide is your cue card)
1. CALIBRATE - Open Home. Show the uncalibrated state ("Personal baseline required"). Put your finger on the MAX30102, do the 2-minute seated calibration, show the baseline appear.
2. MONITOR - Live Check tab: oscilloscope waveform, 100 Hz and jitter readout, signal gate status, Instability Index, SHAP 'why' panel, dual-engine status.
3. BREAK IT - Lift your finger: gate blocks the AI ("measurement unreliable"). Then run the AFib episode scenario: it passes the gate and is flagged for clinical review. Optionally show motion-artifact and stress-tachycardia scenarios.
4. PLAN AND EXPORT - Open the What-If tab: change SBP, statin, smoking cessation and show the risk drop. Show the Twin Profile and vascular age. Export the FHIR R4 bundle.
Tip: point at the provenance tag on screen so viewers know whether data is live hardware, replay or simulation. Say "screening, not diagnosis" once during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(about 2 min)
- These are patient-isolated numbers: StratifiedGroupKFold grouped on patient IDs, so no patient appears in both train and test; scalers are fit on training folds only; fusion weights are tuned in inner folds.
- 2,271 patients, 4,683 10-second windows from MIMIC-III-Ext-PPG, CinC 2015, BUT PPG and BIDMC.
- Random guess is 12.5%. Classical ensemble 48.00%, Inception-1D CNN 51.81%, nested fusion 53.92% (accuracy 59.21%, balanced accuracy 57.46%).
- Fusion adds 5.9 points over classical and 2.1 over the CNN alone. 95% confidence interval about ±5 points, so frame it as a screening prototype, not a finished classifier.
- Optional: the architecture tournament (Inception-1D 51.81%, ResNet-1D 49.44%, Standard 1D-CNN 49.16%, CRNN-BiLSTM 45.04%) explains why Inception-1D was chosen.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LIMITS (about 1.5 min) - this slide builds trust with expert judges, so do not rush it.
- Strongest: Normal 79.3% F1, Bradycardia 67.8%, Tachycardia 65.3%. AFib 53.9%.
- Weakest: V. tachycardia 33.5% and Cardiac paced 35.3%: the hardest single-lead optical cases.
- Source confounding: AFib and Cardiac paced come only from MIMIC; V. tachycardia, V. flutter/fib and Asystole only from CinC 2015. A classifier can predict which dataset a window came from at 77.08% accuracy (81.30% balanced), so the model may partly learn acquisition signatures.
- We disclosed it instead of hiding it: it is in the machine-readable Evidence Ledger and the output is framed as screening guidance, with ECG review for ventricular findings.
- Roadmap: multi-lead ECG, SpO₂ channel, federated learning across centres, active learning from clinician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INTEROPERABILITY AND PRIVACY (about 1.5 min)
- Every session, baseline and What-If scenario exports as an HL7 FHIR R4 Bundle linked to the 14-digit ABHA ID: heart rate LOINC 8867-4, RMSSD LOINC 80404-7, pulse rhythm SNOMED CT 361137007, 10-year risk as a RiskAssessment (LOINC 79423-0), and the ESP32 as a Device resource.
- This plugs into ABDM and e-Sanjeevani tele-consultation, so a Community Health Officer can refer without paperwork.
- Privacy is edge-first and aligned with the DPDP Act 2023: raw 100 Hz waveforms live only in a rolling RAM buffer; only aggregate features and departure flags are transmitted; patient handles are pseudonymised; baselines expire after 30 days.
- Be ready for the question of where inference runs, because the CNN reads the raw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(about 1 min)
- Four words: affordable (₹1,165), personal (learns your own baseline), explainable (SHAP and the Evidence Ledger), honest (patient-isolated metrics and disclosed limits).
- Stack in one line: ESP32 FreeRTOS firmware, Python/Flask backend, PyTorch + XGBoost + SHAP, React 19 dashboard, FHIR R4 export.
- Open source under the MIT License; the repo link is on screen.
- End on the principle: screening, not diagnosis. The clinician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CardioTwin Sentinel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E8"/>
                </a:solidFill>
              </a:rPr>
              <a:t>CardioTwin Sentinel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2514600"/>
            <a:ext cx="9692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rsh-15771/IoT-Arrhythmia-Detection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DIGITAL TWIN CHALLENGE 2026  ·  HAPPIEST HEALTH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CardioTwin Sentinel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25146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A ₹1,165 cardiac digital twin that learns your heart's own baseline</a:t>
            </a:r>
            <a:endParaRPr lang="en-US" sz="2600" dirty="0"/>
          </a:p>
        </p:txBody>
      </p:sp>
      <p:pic>
        <p:nvPicPr>
          <p:cNvPr id="5" name="Pulse motif" descr="Pulse waveform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86200"/>
            <a:ext cx="10515600" cy="960120"/>
          </a:xfrm>
          <a:prstGeom prst="rect">
            <a:avLst/>
          </a:prstGeom>
        </p:spPr>
      </p:pic>
      <p:sp>
        <p:nvSpPr>
          <p:cNvPr id="6" name="Team details"/>
          <p:cNvSpPr txBox="1"/>
          <p:nvPr/>
        </p:nvSpPr>
        <p:spPr>
          <a:xfrm>
            <a:off x="822960" y="53492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Team Root Access (Solo)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Harsh Mishra  ·  Visvesvaraya National Institute of Technology, Nagpur</a:t>
            </a:r>
            <a:endParaRPr lang="en-US" sz="1600" dirty="0"/>
          </a:p>
        </p:txBody>
      </p:sp>
      <p:sp>
        <p:nvSpPr>
          <p:cNvPr id="7" name="Principle"/>
          <p:cNvSpPr txBox="1"/>
          <p:nvPr/>
        </p:nvSpPr>
        <p:spPr>
          <a:xfrm>
            <a:off x="7680960" y="553212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Screening, not diagnosis. The clinician decides.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India's heart disease crisis has no affordable, intelligent screening tool</a:t>
            </a:r>
            <a:endParaRPr lang="en-US" sz="3400" dirty="0"/>
          </a:p>
        </p:txBody>
      </p:sp>
      <p:sp>
        <p:nvSpPr>
          <p:cNvPr id="4" name="Stat card 1"/>
          <p:cNvSpPr/>
          <p:nvPr/>
        </p:nvSpPr>
        <p:spPr>
          <a:xfrm>
            <a:off x="640080" y="2103120"/>
            <a:ext cx="342900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28%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all deaths in India are cardiovascular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4379976" y="2103120"/>
            <a:ext cx="342900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54296" y="2240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10–15 yrs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3017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earlier onset in South Asians than in Western populations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8119872" y="2103120"/>
            <a:ext cx="342900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94192" y="2240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160,000+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394192" y="3017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Health &amp; Wellness Centres with no affordable cardiac screening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WHAT EXISTS TODAY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62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Apple Watch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462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₹41,900+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9194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24–48 h Holter monitor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919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₹5,000–12,000 / rental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766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Hospital bedside monitor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5376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₹1.2–3.5 lakh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33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Pulse oximeter: one number, no memory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5833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₹600–1,200</a:t>
            </a:r>
            <a:endParaRPr lang="en-US" sz="1400" dirty="0"/>
          </a:p>
        </p:txBody>
      </p:sp>
      <p:sp>
        <p:nvSpPr>
          <p:cNvPr id="22" name="Built for card"/>
          <p:cNvSpPr/>
          <p:nvPr/>
        </p:nvSpPr>
        <p:spPr>
          <a:xfrm>
            <a:off x="7040880" y="4114800"/>
            <a:ext cx="4507992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BUILT FOR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59028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Community Health Officers at Ayushman Bharat centres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53492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2-minute seated check  ·  live rhythm screening  ·  FHIR referral to e-Sanjeevani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One ₹1,165 device. Five stages. Every result explained</a:t>
            </a:r>
            <a:endParaRPr lang="en-US" sz="3400" dirty="0"/>
          </a:p>
        </p:txBody>
      </p:sp>
      <p:sp>
        <p:nvSpPr>
          <p:cNvPr id="4" name="Stage card 1"/>
          <p:cNvSpPr/>
          <p:nvPr/>
        </p:nvSpPr>
        <p:spPr>
          <a:xfrm>
            <a:off x="640080" y="2148840"/>
            <a:ext cx="1828800" cy="26974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Hardware Edge icon circle"/>
          <p:cNvSpPr/>
          <p:nvPr/>
        </p:nvSpPr>
        <p:spPr>
          <a:xfrm>
            <a:off x="868680" y="23774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" name="Hardware Edge icon" descr="Hardware Edg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5374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542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Hardware Edge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ESP32 + MAX30102 sampling at 100 Hz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505456" y="3337560"/>
            <a:ext cx="36576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Stage card 2"/>
          <p:cNvSpPr/>
          <p:nvPr/>
        </p:nvSpPr>
        <p:spPr>
          <a:xfrm>
            <a:off x="2910535" y="2148840"/>
            <a:ext cx="1828800" cy="26974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2" name="Signal Gate icon circle"/>
          <p:cNvSpPr/>
          <p:nvPr/>
        </p:nvSpPr>
        <p:spPr>
          <a:xfrm>
            <a:off x="3139135" y="23774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3" name="Signal Gate icon" descr="Signal Gat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155" y="25374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16375" y="2542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139135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Signal Gate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139135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Blocks noise, keeps real arrhythmia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75911" y="3337560"/>
            <a:ext cx="36576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Stage card 3"/>
          <p:cNvSpPr/>
          <p:nvPr/>
        </p:nvSpPr>
        <p:spPr>
          <a:xfrm>
            <a:off x="5180990" y="2148840"/>
            <a:ext cx="1828800" cy="26974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9" name="Dual-Modality AI icon circle"/>
          <p:cNvSpPr/>
          <p:nvPr/>
        </p:nvSpPr>
        <p:spPr>
          <a:xfrm>
            <a:off x="5409590" y="23774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0" name="Dual-Modality AI icon" descr="Dual-Modality AI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610" y="25374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186830" y="2542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40959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Dual-Modality AI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5409590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Classical + CNN, 8 rhythm classes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046366" y="3337560"/>
            <a:ext cx="36576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tage card 4"/>
          <p:cNvSpPr/>
          <p:nvPr/>
        </p:nvSpPr>
        <p:spPr>
          <a:xfrm>
            <a:off x="7451446" y="2148840"/>
            <a:ext cx="1828800" cy="26974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6" name="Digital Twin icon circle"/>
          <p:cNvSpPr/>
          <p:nvPr/>
        </p:nvSpPr>
        <p:spPr>
          <a:xfrm>
            <a:off x="7680046" y="23774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7" name="Digital Twin icon" descr="Digital Twi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066" y="253746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457286" y="2542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04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7680046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Digital Twin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680046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Personal baseline + 10-year risk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9316822" y="3337560"/>
            <a:ext cx="36576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2" name="Stage card 5"/>
          <p:cNvSpPr/>
          <p:nvPr/>
        </p:nvSpPr>
        <p:spPr>
          <a:xfrm>
            <a:off x="9721901" y="2148840"/>
            <a:ext cx="1828800" cy="26974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3" name="Clinician View icon circle"/>
          <p:cNvSpPr/>
          <p:nvPr/>
        </p:nvSpPr>
        <p:spPr>
          <a:xfrm>
            <a:off x="9950501" y="23774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4" name="Clinician View icon" descr="Clinician View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0521" y="253746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727741" y="2542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05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9950501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Clinician View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9950501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dashboard + FHIR R4 export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640080" y="5074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Data flow:  I2C  →  WiFi TCP / JSON  →  clean 10 s windows  →  rhythm + SHAP  →  REST + WebSocket  →  FHIR R4</a:t>
            </a:r>
            <a:endParaRPr lang="en-US" sz="1200" dirty="0"/>
          </a:p>
        </p:txBody>
      </p:sp>
      <p:sp>
        <p:nvSpPr>
          <p:cNvPr id="39" name="Two streams note"/>
          <p:cNvSpPr/>
          <p:nvPr/>
        </p:nvSpPr>
        <p:spPr>
          <a:xfrm>
            <a:off x="640080" y="5486400"/>
            <a:ext cx="10908792" cy="685800"/>
          </a:xfrm>
          <a:prstGeom prst="roundRect">
            <a:avLst>
              <a:gd name="adj" fmla="val 16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914400" y="54864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live pulse says what is happening now. The patient record says what it means for the next 10 years.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STAGE 1  ·  HARDWARE EDGE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 ₹1,165 node built around a hard 100 Hz deadline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</a:rPr>
              <a:t>₹1,165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about $14 per unit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35× cheaper than an Apple Watch</a:t>
            </a:r>
            <a:endParaRPr lang="en-US" sz="1800" dirty="0"/>
          </a:p>
        </p:txBody>
      </p:sp>
      <p:sp>
        <p:nvSpPr>
          <p:cNvPr id="7" name="Core 1 card"/>
          <p:cNvSpPr/>
          <p:nvPr/>
        </p:nvSpPr>
        <p:spPr>
          <a:xfrm>
            <a:off x="5394960" y="2148840"/>
            <a:ext cx="3017520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2356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CORE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Samples the optical sensor at exactly 100 Hz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10,000 µs hardware timer</a:t>
            </a:r>
            <a:endParaRPr lang="en-US" sz="1400" dirty="0"/>
          </a:p>
        </p:txBody>
      </p:sp>
      <p:sp>
        <p:nvSpPr>
          <p:cNvPr id="11" name="Core 0 card"/>
          <p:cNvSpPr/>
          <p:nvPr/>
        </p:nvSpPr>
        <p:spPr>
          <a:xfrm>
            <a:off x="8641080" y="2148840"/>
            <a:ext cx="2907792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CORE 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651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Streams JSON over WiFi and drives the OLED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Never stalls sampling</a:t>
            </a:r>
            <a:endParaRPr lang="en-US" sz="1400" dirty="0"/>
          </a:p>
        </p:txBody>
      </p:sp>
      <p:sp>
        <p:nvSpPr>
          <p:cNvPr id="15" name="Spec chip 1"/>
          <p:cNvSpPr/>
          <p:nvPr/>
        </p:nvSpPr>
        <p:spPr>
          <a:xfrm>
            <a:off x="640080" y="4937760"/>
            <a:ext cx="32461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937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MAX30102  ·  18-bit optical sensor</a:t>
            </a:r>
            <a:endParaRPr lang="en-US" sz="1400" dirty="0"/>
          </a:p>
        </p:txBody>
      </p:sp>
      <p:sp>
        <p:nvSpPr>
          <p:cNvPr id="17" name="Spec chip 2"/>
          <p:cNvSpPr/>
          <p:nvPr/>
        </p:nvSpPr>
        <p:spPr>
          <a:xfrm>
            <a:off x="4169664" y="4937760"/>
            <a:ext cx="32461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69664" y="4937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SSD1306 OLED  ·  live BPM and SQI</a:t>
            </a:r>
            <a:endParaRPr lang="en-US" sz="1400" dirty="0"/>
          </a:p>
        </p:txBody>
      </p:sp>
      <p:sp>
        <p:nvSpPr>
          <p:cNvPr id="19" name="Spec chip 3"/>
          <p:cNvSpPr/>
          <p:nvPr/>
        </p:nvSpPr>
        <p:spPr>
          <a:xfrm>
            <a:off x="7699248" y="4937760"/>
            <a:ext cx="20116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99248" y="4937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6–8 h battery</a:t>
            </a:r>
            <a:endParaRPr lang="en-US" sz="1400" dirty="0"/>
          </a:p>
        </p:txBody>
      </p:sp>
      <p:sp>
        <p:nvSpPr>
          <p:cNvPr id="21" name="Spec chip 4"/>
          <p:cNvSpPr/>
          <p:nvPr/>
        </p:nvSpPr>
        <p:spPr>
          <a:xfrm>
            <a:off x="9994392" y="4937760"/>
            <a:ext cx="18288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94392" y="4937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About 60 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Every chunk carries a boot ID, a sequence number and microsecond timestamps, so drift and dropped data are detectable.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STAGE 2  ·  SIGNAL RELIABILITY GATE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Noise is blocked. Arrhythmia is not</a:t>
            </a:r>
            <a:endParaRPr lang="en-US" sz="3400" dirty="0"/>
          </a:p>
        </p:txBody>
      </p:sp>
      <p:sp>
        <p:nvSpPr>
          <p:cNvPr id="4" name="Block card"/>
          <p:cNvSpPr/>
          <p:nvPr/>
        </p:nvSpPr>
        <p:spPr>
          <a:xfrm>
            <a:off x="640080" y="2103120"/>
            <a:ext cx="5349240" cy="2606040"/>
          </a:xfrm>
          <a:prstGeom prst="roundRect">
            <a:avLst>
              <a:gd name="adj" fmla="val 4211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BLOCKS THE AI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measurement failed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Finger off (ADC below 20k)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Amplifier saturation (ADC above 260k)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Timing jitter above 20%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 signal quality (SQI below 0.40)</a:t>
            </a:r>
            <a:endParaRPr lang="en-US" sz="1600" dirty="0"/>
          </a:p>
        </p:txBody>
      </p:sp>
      <p:sp>
        <p:nvSpPr>
          <p:cNvPr id="8" name="Pass card"/>
          <p:cNvSpPr/>
          <p:nvPr/>
        </p:nvSpPr>
        <p:spPr>
          <a:xfrm>
            <a:off x="6199632" y="2103120"/>
            <a:ext cx="5349240" cy="2606040"/>
          </a:xfrm>
          <a:prstGeom prst="roundRect">
            <a:avLst>
              <a:gd name="adj" fmla="val 4211"/>
            </a:avLst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73952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PASSES TO THE AI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physiology is real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31546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AFib-type irregular pulse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Heart rate below 40 or above 180 BPM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Flagged for clinical review, never discarded as noise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9834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669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finger-off rejection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49834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≤ 2.0 BPM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4379976" y="5669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error vs reference pulse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19872" y="49834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8119872" y="5669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persistent false alarms in validation scenarios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STAGE 4  ·  DIGITAL TWIN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Your heart, compared with your own heart</a:t>
            </a:r>
            <a:endParaRPr lang="en-US" sz="3400" dirty="0"/>
          </a:p>
        </p:txBody>
      </p:sp>
      <p:sp>
        <p:nvSpPr>
          <p:cNvPr id="4" name="Step card 1"/>
          <p:cNvSpPr/>
          <p:nvPr/>
        </p:nvSpPr>
        <p:spPr>
          <a:xfrm>
            <a:off x="640080" y="2103120"/>
            <a:ext cx="3429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5" name="Sit for 2 minutes icon circle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" name="Sit for 2 minutes icon" descr="Sit for 2 minut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4917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29184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Sit for 2 minutes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566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least 6 clean 10-second windows of seated rest</a:t>
            </a:r>
            <a:endParaRPr lang="en-US" sz="1400" dirty="0"/>
          </a:p>
        </p:txBody>
      </p:sp>
      <p:sp>
        <p:nvSpPr>
          <p:cNvPr id="10" name="Step card 2"/>
          <p:cNvSpPr/>
          <p:nvPr/>
        </p:nvSpPr>
        <p:spPr>
          <a:xfrm>
            <a:off x="4379976" y="2103120"/>
            <a:ext cx="3429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1" name="Learn your fingerprint icon circle"/>
          <p:cNvSpPr/>
          <p:nvPr/>
        </p:nvSpPr>
        <p:spPr>
          <a:xfrm>
            <a:off x="4654296" y="233172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2" name="Learn your fingerprint icon" descr="Learn your fingerpri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16" y="24917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31736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54296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Learn your fingerprint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654296" y="3566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Median and MAD of BPM, RR variability and RMSSD</a:t>
            </a:r>
            <a:endParaRPr lang="en-US" sz="1400" dirty="0"/>
          </a:p>
        </p:txBody>
      </p:sp>
      <p:sp>
        <p:nvSpPr>
          <p:cNvPr id="16" name="Step card 3"/>
          <p:cNvSpPr/>
          <p:nvPr/>
        </p:nvSpPr>
        <p:spPr>
          <a:xfrm>
            <a:off x="8119872" y="2103120"/>
            <a:ext cx="3429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7" name="Score every departure icon circle"/>
          <p:cNvSpPr/>
          <p:nvPr/>
        </p:nvSpPr>
        <p:spPr>
          <a:xfrm>
            <a:off x="8394192" y="233172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8" name="Score every departure icon" descr="Score every departur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212" y="24917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771632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94192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Score every departure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394192" y="3566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Instability Index 0–100, smoothed with EMA (α = 0.35)</a:t>
            </a:r>
            <a:endParaRPr lang="en-US" sz="1400" dirty="0"/>
          </a:p>
        </p:txBody>
      </p:sp>
      <p:sp>
        <p:nvSpPr>
          <p:cNvPr id="22" name="No baseline banner"/>
          <p:cNvSpPr/>
          <p:nvPr/>
        </p:nvSpPr>
        <p:spPr>
          <a:xfrm>
            <a:off x="640080" y="4617720"/>
            <a:ext cx="10908792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005840" y="461772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No baseline, no score.</a:t>
            </a:r>
            <a:endParaRPr lang="en-US" sz="30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4617720"/>
            <a:ext cx="5577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Uncalibrated users see "Personal baseline required" instead of a guess from population averages. Baselines expire after 30 days or when the device changes.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STAGE 3  ·  DUAL-MODALITY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Two ways of seeing one heartbeat, fused into one answer</a:t>
            </a:r>
            <a:endParaRPr lang="en-US" sz="3400" dirty="0"/>
          </a:p>
        </p:txBody>
      </p:sp>
      <p:sp>
        <p:nvSpPr>
          <p:cNvPr id="4" name="Classical card"/>
          <p:cNvSpPr/>
          <p:nvPr/>
        </p:nvSpPr>
        <p:spPr>
          <a:xfrm>
            <a:off x="640080" y="2103120"/>
            <a:ext cx="4297680" cy="1508760"/>
          </a:xfrm>
          <a:prstGeom prst="roundRect">
            <a:avLst>
              <a:gd name="adj" fmla="val 7273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CLASSICAL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420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27 biomarkers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XGBoost + Random Forest + ExtraTrees</a:t>
            </a:r>
            <a:endParaRPr lang="en-US" sz="1400" dirty="0"/>
          </a:p>
        </p:txBody>
      </p:sp>
      <p:sp>
        <p:nvSpPr>
          <p:cNvPr id="8" name="Deep learning card"/>
          <p:cNvSpPr/>
          <p:nvPr/>
        </p:nvSpPr>
        <p:spPr>
          <a:xfrm>
            <a:off x="640080" y="3794760"/>
            <a:ext cx="4297680" cy="1508760"/>
          </a:xfrm>
          <a:prstGeom prst="roundRect">
            <a:avLst>
              <a:gd name="adj" fmla="val 7273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DEEP LEARNING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336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Raw 1,000-sample waveform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709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Inception-1D CNN  ·  4 kernel sizes  ·  393k params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2852928"/>
            <a:ext cx="731520" cy="731520"/>
          </a:xfrm>
          <a:prstGeom prst="line">
            <a:avLst/>
          </a:prstGeom>
          <a:noFill/>
          <a:ln w="2857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5029200" y="3950208"/>
            <a:ext cx="731520" cy="731520"/>
          </a:xfrm>
          <a:prstGeom prst="line">
            <a:avLst/>
          </a:prstGeom>
          <a:noFill/>
          <a:ln w="28575">
            <a:solidFill>
              <a:srgbClr val="3B5B92"/>
            </a:solidFill>
            <a:prstDash val="solid"/>
            <a:tailEnd type="triangle"/>
          </a:ln>
        </p:spPr>
      </p:sp>
      <p:sp>
        <p:nvSpPr>
          <p:cNvPr id="14" name="Fusion circle"/>
          <p:cNvSpPr/>
          <p:nvPr/>
        </p:nvSpPr>
        <p:spPr>
          <a:xfrm>
            <a:off x="5852160" y="2743200"/>
            <a:ext cx="2011680" cy="2011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52160" y="2743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FUSION</a:t>
            </a:r>
            <a:endParaRPr lang="en-US" sz="1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0.38 | 0.62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classical | CNN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3749040"/>
            <a:ext cx="502920" cy="0"/>
          </a:xfrm>
          <a:prstGeom prst="line">
            <a:avLst/>
          </a:prstGeom>
          <a:noFill/>
          <a:ln w="28575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7" name="Output card"/>
          <p:cNvSpPr/>
          <p:nvPr/>
        </p:nvSpPr>
        <p:spPr>
          <a:xfrm>
            <a:off x="8549640" y="2103120"/>
            <a:ext cx="2999232" cy="32004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7824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8 RHYTHM CLASSES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2633472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Normal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Tachycardia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Bradycardia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AFib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Cardiac paced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V. tachycardia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V. flutter / fib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Asystole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5778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Hand-built HRV statistics capture physiology. The CNN captures waveform shape the statistics miss.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EXPLAINABLE BY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Every alert says why, and says what it does not know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TOP BIOMARKERS DRIVING PREDICTIONS (MEAN |SHAP|)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423160"/>
          <a:ext cx="6217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Evidence ledger card"/>
          <p:cNvSpPr/>
          <p:nvPr/>
        </p:nvSpPr>
        <p:spPr>
          <a:xfrm>
            <a:off x="7223760" y="2103120"/>
            <a:ext cx="4325112" cy="39776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EVIDENCE LEDGER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6060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Machine-readable limits shipped with every result</a:t>
            </a:r>
            <a:endParaRPr lang="en-US" sz="1800" dirty="0"/>
          </a:p>
        </p:txBody>
      </p:sp>
      <p:sp>
        <p:nvSpPr>
          <p:cNvPr id="9" name="No SpO₂ measurement icon circle"/>
          <p:cNvSpPr/>
          <p:nvPr/>
        </p:nvSpPr>
        <p:spPr>
          <a:xfrm>
            <a:off x="7498080" y="3611880"/>
            <a:ext cx="457200" cy="4572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0" name="No SpO₂ measurement icon" descr="No SpO₂ measureme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380" y="37261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13816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SpO₂ measurement</a:t>
            </a:r>
            <a:endParaRPr lang="en-US" sz="1600" dirty="0"/>
          </a:p>
        </p:txBody>
      </p:sp>
      <p:sp>
        <p:nvSpPr>
          <p:cNvPr id="12" name="PPG is not a 12-lead ECG icon circle"/>
          <p:cNvSpPr/>
          <p:nvPr/>
        </p:nvSpPr>
        <p:spPr>
          <a:xfrm>
            <a:off x="7498080" y="4270248"/>
            <a:ext cx="457200" cy="4572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3" name="PPG is not a 12-lead ECG icon" descr="PPG is not a 12-lead EC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80" y="438454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38160" y="4270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PPG is not a 12-lead ECG</a:t>
            </a:r>
            <a:endParaRPr lang="en-US" sz="1600" dirty="0"/>
          </a:p>
        </p:txBody>
      </p:sp>
      <p:sp>
        <p:nvSpPr>
          <p:cNvPr id="15" name="Trained on ICU-heavy data icon circle"/>
          <p:cNvSpPr/>
          <p:nvPr/>
        </p:nvSpPr>
        <p:spPr>
          <a:xfrm>
            <a:off x="7498080" y="4928616"/>
            <a:ext cx="457200" cy="4572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6" name="Trained on ICU-heavy data icon" descr="Trained on ICU-heavy data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380" y="5042916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138160" y="49286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Trained on ICU-heavy data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7498080" y="55778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Plain-language reasons: BPM, RR-CV and RMSSD deviation, with duration.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STAGE 4  ·  DIGITAL TWIN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From today's pulse to a 10-year plan</a:t>
            </a:r>
            <a:endParaRPr lang="en-US" sz="3400" dirty="0"/>
          </a:p>
        </p:txBody>
      </p:sp>
      <p:sp>
        <p:nvSpPr>
          <p:cNvPr id="4" name="Risk card"/>
          <p:cNvSpPr/>
          <p:nvPr/>
        </p:nvSpPr>
        <p:spPr>
          <a:xfrm>
            <a:off x="640080" y="2103120"/>
            <a:ext cx="4572000" cy="39776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SAME PATIENT, TWO 10-YEAR RISK ESTIMATES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16.8%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697480" y="3081528"/>
            <a:ext cx="457200" cy="32004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2743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24.4%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94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 Framingham vs South Asian recalibration, ×1.45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5262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Crosses the 20% high-risk line, so statin and blood-pressure therapy are not missed.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486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52-year-old male smoker, SBP 145, TC 220, HDL 38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103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WHAT-IF: PROJECTED RELATIVE RISK REDUCTION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Beta-blockade</a:t>
            </a:r>
            <a:endParaRPr lang="en-US" sz="1400" dirty="0"/>
          </a:p>
        </p:txBody>
      </p:sp>
      <p:sp>
        <p:nvSpPr>
          <p:cNvPr id="14" name="Track 1"/>
          <p:cNvSpPr/>
          <p:nvPr/>
        </p:nvSpPr>
        <p:spPr>
          <a:xfrm>
            <a:off x="8001000" y="2715768"/>
            <a:ext cx="2651760" cy="201168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</p:sp>
      <p:sp>
        <p:nvSpPr>
          <p:cNvPr id="15" name="Up to 1"/>
          <p:cNvSpPr/>
          <p:nvPr/>
        </p:nvSpPr>
        <p:spPr>
          <a:xfrm>
            <a:off x="8001000" y="2715768"/>
            <a:ext cx="833410" cy="201168"/>
          </a:xfrm>
          <a:prstGeom prst="roundRect">
            <a:avLst>
              <a:gd name="adj" fmla="val 45455"/>
            </a:avLst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16" name="Range 1"/>
          <p:cNvSpPr/>
          <p:nvPr/>
        </p:nvSpPr>
        <p:spPr>
          <a:xfrm>
            <a:off x="8569234" y="2715768"/>
            <a:ext cx="265176" cy="201168"/>
          </a:xfrm>
          <a:prstGeom prst="roundRect">
            <a:avLst>
              <a:gd name="adj" fmla="val 45455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744200" y="260604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15–22%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264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High-intensity statin</a:t>
            </a:r>
            <a:endParaRPr lang="en-US" sz="1400" dirty="0"/>
          </a:p>
        </p:txBody>
      </p:sp>
      <p:sp>
        <p:nvSpPr>
          <p:cNvPr id="19" name="Track 2"/>
          <p:cNvSpPr/>
          <p:nvPr/>
        </p:nvSpPr>
        <p:spPr>
          <a:xfrm>
            <a:off x="8001000" y="3374136"/>
            <a:ext cx="2651760" cy="201168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</p:sp>
      <p:sp>
        <p:nvSpPr>
          <p:cNvPr id="20" name="Up to 2"/>
          <p:cNvSpPr/>
          <p:nvPr/>
        </p:nvSpPr>
        <p:spPr>
          <a:xfrm>
            <a:off x="8001000" y="3374136"/>
            <a:ext cx="1060704" cy="201168"/>
          </a:xfrm>
          <a:prstGeom prst="roundRect">
            <a:avLst>
              <a:gd name="adj" fmla="val 45455"/>
            </a:avLst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21" name="Range 2"/>
          <p:cNvSpPr/>
          <p:nvPr/>
        </p:nvSpPr>
        <p:spPr>
          <a:xfrm>
            <a:off x="8834410" y="3374136"/>
            <a:ext cx="227294" cy="201168"/>
          </a:xfrm>
          <a:prstGeom prst="roundRect">
            <a:avLst>
              <a:gd name="adj" fmla="val 45455"/>
            </a:avLst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744200" y="3264408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22–28%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39227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Antihypertensives</a:t>
            </a:r>
            <a:endParaRPr lang="en-US" sz="1400" dirty="0"/>
          </a:p>
        </p:txBody>
      </p:sp>
      <p:sp>
        <p:nvSpPr>
          <p:cNvPr id="24" name="Track 3"/>
          <p:cNvSpPr/>
          <p:nvPr/>
        </p:nvSpPr>
        <p:spPr>
          <a:xfrm>
            <a:off x="8001000" y="4032504"/>
            <a:ext cx="2651760" cy="201168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</p:sp>
      <p:sp>
        <p:nvSpPr>
          <p:cNvPr id="25" name="Up to 3"/>
          <p:cNvSpPr/>
          <p:nvPr/>
        </p:nvSpPr>
        <p:spPr>
          <a:xfrm>
            <a:off x="8001000" y="4032504"/>
            <a:ext cx="1287998" cy="201168"/>
          </a:xfrm>
          <a:prstGeom prst="roundRect">
            <a:avLst>
              <a:gd name="adj" fmla="val 45455"/>
            </a:avLst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26" name="Range 3"/>
          <p:cNvSpPr/>
          <p:nvPr/>
        </p:nvSpPr>
        <p:spPr>
          <a:xfrm>
            <a:off x="9061704" y="4032504"/>
            <a:ext cx="227294" cy="201168"/>
          </a:xfrm>
          <a:prstGeom prst="roundRect">
            <a:avLst>
              <a:gd name="adj" fmla="val 45455"/>
            </a:avLst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744200" y="3922776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28–34%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0" y="45811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Smoking cessation</a:t>
            </a:r>
            <a:endParaRPr lang="en-US" sz="1400" dirty="0"/>
          </a:p>
        </p:txBody>
      </p:sp>
      <p:sp>
        <p:nvSpPr>
          <p:cNvPr id="29" name="Track 4"/>
          <p:cNvSpPr/>
          <p:nvPr/>
        </p:nvSpPr>
        <p:spPr>
          <a:xfrm>
            <a:off x="8001000" y="4690872"/>
            <a:ext cx="2651760" cy="201168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</p:sp>
      <p:sp>
        <p:nvSpPr>
          <p:cNvPr id="30" name="Up to 4"/>
          <p:cNvSpPr/>
          <p:nvPr/>
        </p:nvSpPr>
        <p:spPr>
          <a:xfrm>
            <a:off x="8001000" y="4690872"/>
            <a:ext cx="1894114" cy="201168"/>
          </a:xfrm>
          <a:prstGeom prst="roundRect">
            <a:avLst>
              <a:gd name="adj" fmla="val 45455"/>
            </a:avLst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31" name="Range 4"/>
          <p:cNvSpPr/>
          <p:nvPr/>
        </p:nvSpPr>
        <p:spPr>
          <a:xfrm>
            <a:off x="9516291" y="4690872"/>
            <a:ext cx="378823" cy="201168"/>
          </a:xfrm>
          <a:prstGeom prst="roundRect">
            <a:avLst>
              <a:gd name="adj" fmla="val 45455"/>
            </a:avLst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744200" y="4581144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40–50%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5239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Combined protocol</a:t>
            </a:r>
            <a:endParaRPr lang="en-US" sz="1400" dirty="0"/>
          </a:p>
        </p:txBody>
      </p:sp>
      <p:sp>
        <p:nvSpPr>
          <p:cNvPr id="34" name="Track 5"/>
          <p:cNvSpPr/>
          <p:nvPr/>
        </p:nvSpPr>
        <p:spPr>
          <a:xfrm>
            <a:off x="8001000" y="5349240"/>
            <a:ext cx="2651760" cy="201168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</p:sp>
      <p:sp>
        <p:nvSpPr>
          <p:cNvPr id="35" name="Up to 5"/>
          <p:cNvSpPr/>
          <p:nvPr/>
        </p:nvSpPr>
        <p:spPr>
          <a:xfrm>
            <a:off x="8001000" y="5349240"/>
            <a:ext cx="2575995" cy="201168"/>
          </a:xfrm>
          <a:prstGeom prst="roundRect">
            <a:avLst>
              <a:gd name="adj" fmla="val 45455"/>
            </a:avLst>
          </a:prstGeom>
          <a:solidFill>
            <a:schemeClr val="tx2">
              <a:alpha val="22000"/>
            </a:schemeClr>
          </a:solidFill>
          <a:ln/>
        </p:spPr>
      </p:sp>
      <p:sp>
        <p:nvSpPr>
          <p:cNvPr id="36" name="Range 5"/>
          <p:cNvSpPr/>
          <p:nvPr/>
        </p:nvSpPr>
        <p:spPr>
          <a:xfrm>
            <a:off x="10084526" y="5349240"/>
            <a:ext cx="492470" cy="201168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744200" y="5239512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55–68%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0" y="5943600"/>
            <a:ext cx="5879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Educational projections assuming 5–10 years of adherence. Smoking cessation benefit measured over 5 years.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LIVE DEMO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One patient, from finger-on to referral</a:t>
            </a:r>
            <a:endParaRPr lang="en-US" sz="3400" dirty="0"/>
          </a:p>
        </p:txBody>
      </p:sp>
      <p:sp>
        <p:nvSpPr>
          <p:cNvPr id="4" name="Demo card 1"/>
          <p:cNvSpPr/>
          <p:nvPr/>
        </p:nvSpPr>
        <p:spPr>
          <a:xfrm>
            <a:off x="640080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Calibrate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033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Two-minute seated baseline: "Personal baseline required" becomes a live score</a:t>
            </a:r>
            <a:endParaRPr lang="en-US" sz="1400" dirty="0"/>
          </a:p>
        </p:txBody>
      </p:sp>
      <p:sp>
        <p:nvSpPr>
          <p:cNvPr id="8" name="Demo card 2"/>
          <p:cNvSpPr/>
          <p:nvPr/>
        </p:nvSpPr>
        <p:spPr>
          <a:xfrm>
            <a:off x="3438144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12464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712464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Monitor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37033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Live waveform, signal gate and Instability Index, with SHAP reasons</a:t>
            </a:r>
            <a:endParaRPr lang="en-US" sz="1400" dirty="0"/>
          </a:p>
        </p:txBody>
      </p:sp>
      <p:sp>
        <p:nvSpPr>
          <p:cNvPr id="12" name="Demo card 3"/>
          <p:cNvSpPr/>
          <p:nvPr/>
        </p:nvSpPr>
        <p:spPr>
          <a:xfrm>
            <a:off x="6236208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Break it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37033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Finger-off blocks the AI. An AFib episode passes through, flagged</a:t>
            </a:r>
            <a:endParaRPr lang="en-US" sz="1400" dirty="0"/>
          </a:p>
        </p:txBody>
      </p:sp>
      <p:sp>
        <p:nvSpPr>
          <p:cNvPr id="16" name="Demo card 4"/>
          <p:cNvSpPr/>
          <p:nvPr/>
        </p:nvSpPr>
        <p:spPr>
          <a:xfrm>
            <a:off x="9034272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08592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4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9308592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Plan and export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308592" y="37033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Change SBP, statin and smoking in What-If, then export the FHIR bundle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715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On-screen tags always show the data source:  [LIVE_HARDWARE]  ·  [RECORDED_REPLAY]  ·  [SIMULATION]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OUTCOME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53.92% Macro-F1 on patients the model has never seen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8-CLASS MACRO-F1 (RANDOM GUESS = 12.5%)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42316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955280" y="2240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+5.9 pts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over the classical ensemble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+2.1 pts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480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over Inception-1D alone</a:t>
            </a:r>
            <a:endParaRPr lang="en-US" sz="1600" dirty="0"/>
          </a:p>
        </p:txBody>
      </p:sp>
      <p:sp>
        <p:nvSpPr>
          <p:cNvPr id="10" name="Protocol note"/>
          <p:cNvSpPr/>
          <p:nvPr/>
        </p:nvSpPr>
        <p:spPr>
          <a:xfrm>
            <a:off x="7955280" y="5074920"/>
            <a:ext cx="359359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8388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Patient-isolated nested 5-fold CV  ·  2,271 patients  ·  4,683 windows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OUTCOME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Strong where signals are clear, honest where they are not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F1 BY RHYTHM CLASS (DUAL FUSION)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377440"/>
          <a:ext cx="6492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Disclosure card"/>
          <p:cNvSpPr/>
          <p:nvPr/>
        </p:nvSpPr>
        <p:spPr>
          <a:xfrm>
            <a:off x="7498080" y="2103120"/>
            <a:ext cx="4050792" cy="3977640"/>
          </a:xfrm>
          <a:prstGeom prst="roundRect">
            <a:avLst>
              <a:gd name="adj" fmla="val 2759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WHAT WE DISCLOSE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6060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5 of 8 classes come from a single dataset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77.08%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343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accuracy of guessing the dataset from biomarkers alone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49834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 outputs are screening guidance, limits are in the Evidence Ledger, and V. tachycardia triggers ECG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BUILT FOR INDIA'S HEALTH STACK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Plugs into ABDM today, and keeps patient data at the edge</a:t>
            </a:r>
            <a:endParaRPr lang="en-US" sz="3400" dirty="0"/>
          </a:p>
        </p:txBody>
      </p:sp>
      <p:sp>
        <p:nvSpPr>
          <p:cNvPr id="4" name="Flow chip 1"/>
          <p:cNvSpPr/>
          <p:nvPr/>
        </p:nvSpPr>
        <p:spPr>
          <a:xfrm>
            <a:off x="640080" y="210312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CardioTwin session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99232" y="2423160"/>
            <a:ext cx="384048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7" name="Flow chip 2"/>
          <p:cNvSpPr/>
          <p:nvPr/>
        </p:nvSpPr>
        <p:spPr>
          <a:xfrm>
            <a:off x="3474720" y="210312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FHIR R4 Bundle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33872" y="2423160"/>
            <a:ext cx="384048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Flow chip 3"/>
          <p:cNvSpPr/>
          <p:nvPr/>
        </p:nvSpPr>
        <p:spPr>
          <a:xfrm>
            <a:off x="6309360" y="210312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ABHA  ·  ABDM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68512" y="2423160"/>
            <a:ext cx="384048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Flow chip 4"/>
          <p:cNvSpPr/>
          <p:nvPr/>
        </p:nvSpPr>
        <p:spPr>
          <a:xfrm>
            <a:off x="9144000" y="210312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e-Sanjeevani tele-consult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004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Heart rate LOINC 8867-4  ·  RMSSD LOINC 80404-7  ·  10-yr risk LOINC 79423-0  ·  Rhythm SNOMED CT</a:t>
            </a:r>
            <a:endParaRPr lang="en-US" sz="1200" dirty="0"/>
          </a:p>
        </p:txBody>
      </p:sp>
      <p:sp>
        <p:nvSpPr>
          <p:cNvPr id="16" name="Privacy card 1"/>
          <p:cNvSpPr/>
          <p:nvPr/>
        </p:nvSpPr>
        <p:spPr>
          <a:xfrm>
            <a:off x="640080" y="3749040"/>
            <a:ext cx="34290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7" name="Raw waveform stays in RAM icon circle"/>
          <p:cNvSpPr/>
          <p:nvPr/>
        </p:nvSpPr>
        <p:spPr>
          <a:xfrm>
            <a:off x="914400" y="39776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8" name="Raw waveform stays in RAM icon" descr="Raw waveform stays in R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413766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14400" y="4800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Raw waveform stays in RAM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Rolling buffer, purged once features are computed</a:t>
            </a:r>
            <a:endParaRPr lang="en-US" sz="1400" dirty="0"/>
          </a:p>
        </p:txBody>
      </p:sp>
      <p:sp>
        <p:nvSpPr>
          <p:cNvPr id="21" name="Privacy card 2"/>
          <p:cNvSpPr/>
          <p:nvPr/>
        </p:nvSpPr>
        <p:spPr>
          <a:xfrm>
            <a:off x="4379976" y="3749040"/>
            <a:ext cx="34290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2" name="Only aggregates leave icon circle"/>
          <p:cNvSpPr/>
          <p:nvPr/>
        </p:nvSpPr>
        <p:spPr>
          <a:xfrm>
            <a:off x="4654296" y="39776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3" name="Only aggregates leave icon" descr="Only aggregates leav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16" y="413766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654296" y="4800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Only aggregates leave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4654296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27 biomarkers and departure flags, never raw signal</a:t>
            </a:r>
            <a:endParaRPr lang="en-US" sz="1400" dirty="0"/>
          </a:p>
        </p:txBody>
      </p:sp>
      <p:sp>
        <p:nvSpPr>
          <p:cNvPr id="26" name="Privacy card 3"/>
          <p:cNvSpPr/>
          <p:nvPr/>
        </p:nvSpPr>
        <p:spPr>
          <a:xfrm>
            <a:off x="8119872" y="3749040"/>
            <a:ext cx="34290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7" name="DPDP Act 2023 aligned icon circle"/>
          <p:cNvSpPr/>
          <p:nvPr/>
        </p:nvSpPr>
        <p:spPr>
          <a:xfrm>
            <a:off x="8394192" y="3977640"/>
            <a:ext cx="640080" cy="640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8" name="DPDP Act 2023 aligned icon" descr="DPDP Act 2023 align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212" y="4137660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394192" y="4800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DPDP Act 2023 aligned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8394192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Pseudonymised IDs, baselines expire after 30 days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THE TAKEAWAY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Affordable. Personal. Explainable. Honest</a:t>
            </a:r>
            <a:endParaRPr lang="en-US" sz="3400" dirty="0"/>
          </a:p>
        </p:txBody>
      </p:sp>
      <p:pic>
        <p:nvPicPr>
          <p:cNvPr id="4" name="Pulse motif" descr="Pulse waveform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10908792" cy="960120"/>
          </a:xfrm>
          <a:prstGeom prst="rect">
            <a:avLst/>
          </a:prstGeom>
        </p:spPr>
      </p:pic>
      <p:sp>
        <p:nvSpPr>
          <p:cNvPr id="5" name="Stack chip 1"/>
          <p:cNvSpPr/>
          <p:nvPr/>
        </p:nvSpPr>
        <p:spPr>
          <a:xfrm>
            <a:off x="640080" y="3429000"/>
            <a:ext cx="2514600" cy="822960"/>
          </a:xfrm>
          <a:prstGeom prst="roundRect">
            <a:avLst>
              <a:gd name="adj" fmla="val 13333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ESP32  ·  MAX30102</a:t>
            </a:r>
            <a:endParaRPr lang="en-US" sz="1400" dirty="0"/>
          </a:p>
        </p:txBody>
      </p:sp>
      <p:sp>
        <p:nvSpPr>
          <p:cNvPr id="7" name="Stack chip 2"/>
          <p:cNvSpPr/>
          <p:nvPr/>
        </p:nvSpPr>
        <p:spPr>
          <a:xfrm>
            <a:off x="3438144" y="3429000"/>
            <a:ext cx="2514600" cy="822960"/>
          </a:xfrm>
          <a:prstGeom prst="roundRect">
            <a:avLst>
              <a:gd name="adj" fmla="val 13333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29584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Python 3.11  ·  Flask  ·  Socket.IO</a:t>
            </a:r>
            <a:endParaRPr lang="en-US" sz="1400" dirty="0"/>
          </a:p>
        </p:txBody>
      </p:sp>
      <p:sp>
        <p:nvSpPr>
          <p:cNvPr id="9" name="Stack chip 3"/>
          <p:cNvSpPr/>
          <p:nvPr/>
        </p:nvSpPr>
        <p:spPr>
          <a:xfrm>
            <a:off x="6236208" y="3429000"/>
            <a:ext cx="2514600" cy="822960"/>
          </a:xfrm>
          <a:prstGeom prst="roundRect">
            <a:avLst>
              <a:gd name="adj" fmla="val 13333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27648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PyTorch  ·  XGBoost  ·  SHAP</a:t>
            </a:r>
            <a:endParaRPr lang="en-US" sz="1400" dirty="0"/>
          </a:p>
        </p:txBody>
      </p:sp>
      <p:sp>
        <p:nvSpPr>
          <p:cNvPr id="11" name="Stack chip 4"/>
          <p:cNvSpPr/>
          <p:nvPr/>
        </p:nvSpPr>
        <p:spPr>
          <a:xfrm>
            <a:off x="9034272" y="3429000"/>
            <a:ext cx="2514600" cy="822960"/>
          </a:xfrm>
          <a:prstGeom prst="roundRect">
            <a:avLst>
              <a:gd name="adj" fmla="val 13333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25712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React 19  ·  HL7 FHIR R4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7548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Open source under the MIT License</a:t>
            </a:r>
            <a:endParaRPr lang="en-US" sz="1800" dirty="0"/>
          </a:p>
          <a:p>
            <a:pPr indent="0" marL="0">
              <a:buNone/>
            </a:pPr>
            <a:r>
              <a:rPr lang="en-US" sz="1800" u="sng" dirty="0">
                <a:solidFill>
                  <a:srgbClr val="7DD3E8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github.com/Harsh-15771/IoT-Arrhythmia-Detection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4754880"/>
            <a:ext cx="3867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Team Root Access (Solo)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Harsh Mishra  ·  VNIT Nagpur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Screening, not diagnosis. The clinician decides.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D3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dioTwin">
  <a:themeElements>
    <a:clrScheme name="CardioTwin">
      <a:dk1>
        <a:srgbClr val="1B2430"/>
      </a:dk1>
      <a:lt1>
        <a:srgbClr val="FFFFFF"/>
      </a:lt1>
      <a:dk2>
        <a:srgbClr val="0B2545"/>
      </a:dk2>
      <a:lt2>
        <a:srgbClr val="F3F6F9"/>
      </a:lt2>
      <a:accent1>
        <a:srgbClr val="0E7490"/>
      </a:accent1>
      <a:accent2>
        <a:srgbClr val="B42318"/>
      </a:accent2>
      <a:accent3>
        <a:srgbClr val="067647"/>
      </a:accent3>
      <a:accent4>
        <a:srgbClr val="3B5B92"/>
      </a:accent4>
      <a:accent5>
        <a:srgbClr val="7DD3E8"/>
      </a:accent5>
      <a:accent6>
        <a:srgbClr val="667085"/>
      </a:accent6>
      <a:hlink>
        <a:srgbClr val="0E7490"/>
      </a:hlink>
      <a:folHlink>
        <a:srgbClr val="3B5B92"/>
      </a:folHlink>
    </a:clrScheme>
    <a:fontScheme name="Cardio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Team Root Access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CardioTwin Sentinel</dc:title>
  <dc:subject>PptxGenJS Presentation</dc:subject>
  <dc:creator>Harsh Mishra</dc:creator>
  <cp:lastModifiedBy>Harsh Mishra</cp:lastModifiedBy>
  <cp:revision>1</cp:revision>
  <dcterms:created xsi:type="dcterms:W3CDTF">2026-10-14T20:44:05Z</dcterms:created>
  <dcterms:modified xsi:type="dcterms:W3CDTF">2026-10-14T20:44:05Z</dcterms:modified>
</cp:coreProperties>
</file>